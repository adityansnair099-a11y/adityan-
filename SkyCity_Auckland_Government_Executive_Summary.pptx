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2D8895"/>
                </a:solidFill>
                <a:latin typeface="Aptos"/>
              </a:defRPr>
            </a:pPr>
            <a:r>
              <a:t>SKYCITY AUCKLAND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123B5F"/>
                </a:solidFill>
                <a:latin typeface="Aptos"/>
              </a:defRPr>
            </a:pPr>
            <a:r>
              <a:t>Hospitality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6771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5F6873"/>
                </a:solidFill>
                <a:latin typeface="Aptos"/>
              </a:defRPr>
            </a:pPr>
            <a:r>
              <a:t>Executive summary for government stakeholders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2560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483864"/>
            <a:ext cx="22311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2D8895"/>
                </a:solidFill>
                <a:latin typeface="Aptos"/>
              </a:defRPr>
            </a:pPr>
            <a:r>
              <a:t>$77.74m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977639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Recorded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337560"/>
            <a:ext cx="2560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3483864"/>
            <a:ext cx="22311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2D8895"/>
                </a:solidFill>
                <a:latin typeface="Aptos"/>
              </a:defRPr>
            </a:pPr>
            <a:r>
              <a:t>$7.87m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3977639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Recorded net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2560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483864"/>
            <a:ext cx="22311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123B5F"/>
                </a:solidFill>
                <a:latin typeface="Aptos"/>
              </a:defRPr>
            </a:pPr>
            <a:r>
              <a:t>10.1%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977639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Aggregate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337560"/>
            <a:ext cx="2560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3483864"/>
            <a:ext cx="22311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B0493F"/>
                </a:solidFill>
                <a:latin typeface="Aptos"/>
              </a:defRPr>
            </a:pPr>
            <a:r>
              <a:t>24.1%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977639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Outlet records in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8348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Aptos"/>
              </a:defRPr>
            </a:pPr>
            <a:r>
              <a:t>Portfolio-level diagnostic based on the supplied outlet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3949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Currency and reporting period are not specified in the source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510528"/>
            <a:ext cx="10698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0">
                <a:solidFill>
                  <a:srgbClr val="5F6873"/>
                </a:solidFill>
                <a:latin typeface="Aptos"/>
              </a:defRPr>
            </a:pPr>
            <a:r>
              <a:t>SKYCITY AUCKLAND  |  GOVERNMENT SUMMARY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123B5F"/>
                </a:solidFill>
                <a:latin typeface="Aptos"/>
              </a:defRPr>
            </a:pPr>
            <a:r>
              <a:t>Overall performance hides format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0">
                <a:solidFill>
                  <a:srgbClr val="5F6873"/>
                </a:solidFill>
                <a:latin typeface="Aptos"/>
              </a:defRPr>
            </a:pPr>
            <a:r>
              <a:t>SKYCITY AUCKLAND  |  GOVERNMENT SUMMARY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261872"/>
            <a:ext cx="24140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123B5F"/>
                </a:solidFill>
                <a:latin typeface="Aptos"/>
              </a:defRPr>
            </a:pPr>
            <a:r>
              <a:t>1,696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24140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Outlet records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15568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1261872"/>
            <a:ext cx="24140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2D8895"/>
                </a:solidFill>
                <a:latin typeface="Aptos"/>
              </a:defRPr>
            </a:pPr>
            <a:r>
              <a:t>1,288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755648"/>
            <a:ext cx="24140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Non-loss-making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115568"/>
            <a:ext cx="2743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261872"/>
            <a:ext cx="24140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B0493F"/>
                </a:solidFill>
                <a:latin typeface="Aptos"/>
              </a:defRPr>
            </a:pPr>
            <a:r>
              <a:t>408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755648"/>
            <a:ext cx="24140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Loss-making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123B5F"/>
                </a:solidFill>
                <a:latin typeface="Aptos"/>
              </a:defRPr>
            </a:pPr>
            <a:r>
              <a:t>Aggregate segment net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A37"/>
                </a:solidFill>
                <a:latin typeface="Aptos"/>
              </a:defRPr>
            </a:pPr>
            <a:r>
              <a:t>Ghost Kitchen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337560"/>
            <a:ext cx="22860" cy="256032"/>
          </a:xfrm>
          <a:prstGeom prst="rect">
            <a:avLst/>
          </a:prstGeom>
          <a:solidFill>
            <a:srgbClr val="5F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3360420"/>
            <a:ext cx="4668926" cy="210312"/>
          </a:xfrm>
          <a:prstGeom prst="rect">
            <a:avLst/>
          </a:prstGeom>
          <a:solidFill>
            <a:srgbClr val="2D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0614" y="3300984"/>
            <a:ext cx="777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23B5F"/>
                </a:solidFill>
                <a:latin typeface="Aptos"/>
              </a:defRPr>
            </a:pPr>
            <a:r>
              <a:t>22.2%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A37"/>
                </a:solidFill>
                <a:latin typeface="Aptos"/>
              </a:defRPr>
            </a:pPr>
            <a:r>
              <a:t>Cafe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977639"/>
            <a:ext cx="22860" cy="256032"/>
          </a:xfrm>
          <a:prstGeom prst="rect">
            <a:avLst/>
          </a:prstGeom>
          <a:solidFill>
            <a:srgbClr val="5F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4000500"/>
            <a:ext cx="3407054" cy="210312"/>
          </a:xfrm>
          <a:prstGeom prst="rect">
            <a:avLst/>
          </a:prstGeom>
          <a:solidFill>
            <a:srgbClr val="2D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8742" y="3941063"/>
            <a:ext cx="777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23B5F"/>
                </a:solidFill>
                <a:latin typeface="Aptos"/>
              </a:defRPr>
            </a:pPr>
            <a:r>
              <a:t>16.2%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A37"/>
                </a:solidFill>
                <a:latin typeface="Aptos"/>
              </a:defRPr>
            </a:pPr>
            <a:r>
              <a:t>QSR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617720"/>
            <a:ext cx="22860" cy="256032"/>
          </a:xfrm>
          <a:prstGeom prst="rect">
            <a:avLst/>
          </a:prstGeom>
          <a:solidFill>
            <a:srgbClr val="5F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4640580"/>
            <a:ext cx="3175711" cy="210312"/>
          </a:xfrm>
          <a:prstGeom prst="rect">
            <a:avLst/>
          </a:prstGeom>
          <a:solidFill>
            <a:srgbClr val="2D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37399" y="4581144"/>
            <a:ext cx="777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23B5F"/>
                </a:solidFill>
                <a:latin typeface="Aptos"/>
              </a:defRPr>
            </a:pPr>
            <a:r>
              <a:t>15.1%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12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A37"/>
                </a:solidFill>
                <a:latin typeface="Aptos"/>
              </a:defRPr>
            </a:pPr>
            <a:r>
              <a:t>Full-service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5257800"/>
            <a:ext cx="22860" cy="256032"/>
          </a:xfrm>
          <a:prstGeom prst="rect">
            <a:avLst/>
          </a:prstGeom>
          <a:solidFill>
            <a:srgbClr val="5F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32150" y="5280660"/>
            <a:ext cx="1219809" cy="210312"/>
          </a:xfrm>
          <a:prstGeom prst="rect">
            <a:avLst/>
          </a:prstGeom>
          <a:solidFill>
            <a:srgbClr val="B04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5221224"/>
            <a:ext cx="777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B0493F"/>
                </a:solidFill>
                <a:latin typeface="Aptos"/>
              </a:defRPr>
            </a:pPr>
            <a:r>
              <a:t>-5.8%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79592"/>
            <a:ext cx="10424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Margins use total segment net profit divided by total segment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123B5F"/>
                </a:solidFill>
                <a:latin typeface="Aptos"/>
              </a:defRPr>
            </a:pPr>
            <a:r>
              <a:t>Channel results are uneven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0">
                <a:solidFill>
                  <a:srgbClr val="5F6873"/>
                </a:solidFill>
                <a:latin typeface="Aptos"/>
              </a:defRPr>
            </a:pPr>
            <a:r>
              <a:t>SKYCITY AUCKLAND  |  GOVERNMENT SUMMARY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123B5F"/>
                </a:solidFill>
                <a:latin typeface="Aptos"/>
              </a:defRPr>
            </a:pPr>
            <a:r>
              <a:t>Recorded net profit by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In-store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760219"/>
            <a:ext cx="3605332" cy="228600"/>
          </a:xfrm>
          <a:prstGeom prst="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09928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$3.828m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Self-delivery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510027"/>
            <a:ext cx="3416966" cy="228600"/>
          </a:xfrm>
          <a:prstGeom prst="rect">
            <a:avLst/>
          </a:prstGeom>
          <a:solidFill>
            <a:srgbClr val="2D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459736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$3.628m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Uber 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259836"/>
            <a:ext cx="242992" cy="2286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209544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$0.258m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86783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DoorDash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4009644"/>
            <a:ext cx="182880" cy="228600"/>
          </a:xfrm>
          <a:prstGeom prst="rect">
            <a:avLst/>
          </a:prstGeom>
          <a:solidFill>
            <a:srgbClr val="B04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59351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F2A37"/>
                </a:solidFill>
                <a:latin typeface="Aptos"/>
              </a:defRPr>
            </a:pPr>
            <a:r>
              <a:t>$0.151m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09728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23B5F"/>
                </a:solidFill>
                <a:latin typeface="Aptos"/>
              </a:defRPr>
            </a:pPr>
            <a:r>
              <a:t>Average order share across outlet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7556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Aptos"/>
              </a:defRPr>
            </a:pPr>
            <a:r>
              <a:t>In-store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755648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00" b="1">
                <a:solidFill>
                  <a:srgbClr val="123B5F"/>
                </a:solidFill>
                <a:latin typeface="Aptos"/>
              </a:defRPr>
            </a:pPr>
            <a:r>
              <a:t>17.5%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33172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Aptos"/>
              </a:defRPr>
            </a:pPr>
            <a:r>
              <a:t>Uber 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331720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00" b="1">
                <a:solidFill>
                  <a:srgbClr val="123B5F"/>
                </a:solidFill>
                <a:latin typeface="Aptos"/>
              </a:defRPr>
            </a:pPr>
            <a:r>
              <a:t>40.3%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07791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Aptos"/>
              </a:defRPr>
            </a:pPr>
            <a:r>
              <a:t>DoorDash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907791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00" b="1">
                <a:solidFill>
                  <a:srgbClr val="123B5F"/>
                </a:solidFill>
                <a:latin typeface="Aptos"/>
              </a:defRPr>
            </a:pPr>
            <a:r>
              <a:t>22.0%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48386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Aptos"/>
              </a:defRPr>
            </a:pPr>
            <a:r>
              <a:t>Self-delivery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4838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00" b="1">
                <a:solidFill>
                  <a:srgbClr val="123B5F"/>
                </a:solidFill>
                <a:latin typeface="Aptos"/>
              </a:defRPr>
            </a:pPr>
            <a:r>
              <a:t>20.1%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480560"/>
            <a:ext cx="30175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4626864"/>
            <a:ext cx="268833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D9A441"/>
                </a:solidFill>
                <a:latin typeface="Aptos"/>
              </a:defRPr>
            </a:pPr>
            <a:r>
              <a:t>30.0%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5120640"/>
            <a:ext cx="26883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5F6873"/>
                </a:solidFill>
                <a:latin typeface="Aptos"/>
              </a:defRPr>
            </a:pPr>
            <a:r>
              <a:t>Average commission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5F6873"/>
                </a:solidFill>
                <a:latin typeface="Aptos"/>
              </a:defRPr>
            </a:pPr>
            <a:r>
              <a:t>Aggregate channel profits are descriptive; they do not show that channel mix causes profitability differences.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123B5F"/>
                </a:solidFill>
                <a:latin typeface="Aptos"/>
              </a:defRPr>
            </a:pPr>
            <a:r>
              <a:t>Implications for public decision-makers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0">
                <a:solidFill>
                  <a:srgbClr val="5F6873"/>
                </a:solidFill>
                <a:latin typeface="Aptos"/>
              </a:defRPr>
            </a:pPr>
            <a:r>
              <a:t>SKYCITY AUCKLAND  |  GOVERNMENT SUMMARY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4937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123B5F"/>
                </a:solidFill>
                <a:latin typeface="Aptos"/>
              </a:defRPr>
            </a:pPr>
            <a:r>
              <a:t>What the data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737360"/>
            <a:ext cx="4727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1F2A37"/>
                </a:solidFill>
                <a:latin typeface="Aptos"/>
              </a:defRPr>
            </a:pPr>
            <a:r>
              <a:t>Assess businesses by format and outlet-level economics; portfolio averages conceal losses.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97480"/>
            <a:ext cx="4727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1F2A37"/>
                </a:solidFill>
                <a:latin typeface="Aptos"/>
              </a:defRPr>
            </a:pPr>
            <a:r>
              <a:t>Use channel-level costs and commissions as indicators for further investigation, not proof of cause.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57600"/>
            <a:ext cx="4727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1F2A37"/>
                </a:solidFill>
                <a:latin typeface="Aptos"/>
              </a:defRPr>
            </a:pPr>
            <a:r>
              <a:t>Consider targeted diagnostics and cost-management support where local evidence identifies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097280"/>
            <a:ext cx="5029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2D8895"/>
                </a:solidFill>
                <a:latin typeface="Aptos"/>
              </a:defRPr>
            </a:pPr>
            <a:r>
              <a:t>Evidence needed before policy or funding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737360"/>
            <a:ext cx="4727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1F2A37"/>
                </a:solidFill>
                <a:latin typeface="Aptos"/>
              </a:defRPr>
            </a:pPr>
            <a:r>
              <a:t>Employment, wages, business survival, and local procurement.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697480"/>
            <a:ext cx="4727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1F2A37"/>
                </a:solidFill>
                <a:latin typeface="Aptos"/>
              </a:defRPr>
            </a:pPr>
            <a:r>
              <a:t>Verified source, reporting period, currency, and profit-calculation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5760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657600"/>
            <a:ext cx="4727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1F2A37"/>
                </a:solidFill>
                <a:latin typeface="Aptos"/>
              </a:defRPr>
            </a:pPr>
            <a:r>
              <a:t>Comparable trend data and neighborhood-level outcomes.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5F6873"/>
                </a:solidFill>
                <a:latin typeface="Aptos"/>
              </a:defRPr>
            </a:pPr>
            <a:r>
              <a:t>The dataset does not measure wider employment, tourism, tax, or community impacts.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123B5F"/>
                </a:solidFill>
                <a:latin typeface="Aptos"/>
              </a:defRPr>
            </a:pPr>
            <a:r>
              <a:t>Data, method,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0">
                <a:solidFill>
                  <a:srgbClr val="5F6873"/>
                </a:solidFill>
                <a:latin typeface="Aptos"/>
              </a:defRPr>
            </a:pPr>
            <a:r>
              <a:t>SKYCITY AUCKLAND  |  GOVERNMENT SUMMARY  |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234440"/>
            <a:ext cx="1025956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1F2A37"/>
                </a:solidFill>
                <a:latin typeface="Aptos"/>
              </a:defRPr>
            </a:pPr>
            <a:r>
              <a:t>Scope: 1,696 outlet records in the supplied restaurants and bars 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025956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1F2A37"/>
                </a:solidFill>
                <a:latin typeface="Aptos"/>
              </a:defRPr>
            </a:pPr>
            <a:r>
              <a:t>Total revenue sums the four channel revenue fields; total net profit sums the four channel net-profit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80360"/>
            <a:ext cx="1025956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1F2A37"/>
                </a:solidFill>
                <a:latin typeface="Aptos"/>
              </a:defRPr>
            </a:pPr>
            <a:r>
              <a:t>Segment margins are calculated from aggregate segment profit and revenue, not as an average of outlet margins.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703320"/>
            <a:ext cx="1025956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1F2A37"/>
                </a:solidFill>
                <a:latin typeface="Aptos"/>
              </a:defRPr>
            </a:pPr>
            <a:r>
              <a:t>The source does not identify currency, reporting period, provenance, or calculation methodology; figures are not independently audited.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228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2D8895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526280"/>
            <a:ext cx="1025956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1F2A37"/>
                </a:solidFill>
                <a:latin typeface="Aptos"/>
              </a:defRPr>
            </a:pPr>
            <a:r>
              <a:t>Treat these results as a portfolio diagnostic, not verified sector-wide statistics or causal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